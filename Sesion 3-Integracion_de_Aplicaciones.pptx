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B4DF50-2FE6-F354-BAB8-0E6D6FAC2BAA}" v="1" dt="2026-08-24T02:20:42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IDY DANIELA FLOREZ GAMBA" userId="S::jdanflorez@poligran.edu.co::670c6441-efa0-4e04-9d74-7b3c8431675b" providerId="AD" clId="Web-{ABE685E8-B906-D8A7-06F5-1AE0126BE657}"/>
    <pc:docChg chg="modSld">
      <pc:chgData name="JEIDY DANIELA FLOREZ GAMBA" userId="S::jdanflorez@poligran.edu.co::670c6441-efa0-4e04-9d74-7b3c8431675b" providerId="AD" clId="Web-{ABE685E8-B906-D8A7-06F5-1AE0126BE657}" dt="2026-08-18T20:04:58.191" v="0" actId="1076"/>
      <pc:docMkLst>
        <pc:docMk/>
      </pc:docMkLst>
      <pc:sldChg chg="modSp">
        <pc:chgData name="JEIDY DANIELA FLOREZ GAMBA" userId="S::jdanflorez@poligran.edu.co::670c6441-efa0-4e04-9d74-7b3c8431675b" providerId="AD" clId="Web-{ABE685E8-B906-D8A7-06F5-1AE0126BE657}" dt="2026-08-18T20:04:58.191" v="0" actId="1076"/>
        <pc:sldMkLst>
          <pc:docMk/>
          <pc:sldMk cId="0" sldId="270"/>
        </pc:sldMkLst>
        <pc:spChg chg="mod">
          <ac:chgData name="JEIDY DANIELA FLOREZ GAMBA" userId="S::jdanflorez@poligran.edu.co::670c6441-efa0-4e04-9d74-7b3c8431675b" providerId="AD" clId="Web-{ABE685E8-B906-D8A7-06F5-1AE0126BE657}" dt="2026-08-18T20:04:58.191" v="0" actId="1076"/>
          <ac:spMkLst>
            <pc:docMk/>
            <pc:sldMk cId="0" sldId="270"/>
            <ac:spMk id="3" creationId="{00000000-0000-0000-0000-000000000000}"/>
          </ac:spMkLst>
        </pc:spChg>
      </pc:sldChg>
    </pc:docChg>
  </pc:docChgLst>
  <pc:docChgLst>
    <pc:chgData name="FABIAN ESTEBAN VARGAS SANCHEZ" userId="S::fevargas@poligran.edu.co::a3b94ee4-ab47-472c-9287-026e826f32fc" providerId="AD" clId="Web-{8C7E74B4-FC06-253E-7DC4-ED40E798C55C}"/>
    <pc:docChg chg="addSld delSld">
      <pc:chgData name="FABIAN ESTEBAN VARGAS SANCHEZ" userId="S::fevargas@poligran.edu.co::a3b94ee4-ab47-472c-9287-026e826f32fc" providerId="AD" clId="Web-{8C7E74B4-FC06-253E-7DC4-ED40E798C55C}" dt="2026-08-18T19:51:16.738" v="1"/>
      <pc:docMkLst>
        <pc:docMk/>
      </pc:docMkLst>
    </pc:docChg>
  </pc:docChgLst>
  <pc:docChgLst>
    <pc:chgData name="MARIA CAMILA PACHECO MORALES" userId="S::mcpacheco@poligran.edu.co::f229b06e-2d8d-43b6-aac1-bd58200ab5cb" providerId="AD" clId="Web-{BDB4DF50-2FE6-F354-BAB8-0E6D6FAC2BAA}"/>
    <pc:docChg chg="modSld">
      <pc:chgData name="MARIA CAMILA PACHECO MORALES" userId="S::mcpacheco@poligran.edu.co::f229b06e-2d8d-43b6-aac1-bd58200ab5cb" providerId="AD" clId="Web-{BDB4DF50-2FE6-F354-BAB8-0E6D6FAC2BAA}" dt="2026-08-24T02:20:42.206" v="0" actId="1076"/>
      <pc:docMkLst>
        <pc:docMk/>
      </pc:docMkLst>
      <pc:sldChg chg="modSp">
        <pc:chgData name="MARIA CAMILA PACHECO MORALES" userId="S::mcpacheco@poligran.edu.co::f229b06e-2d8d-43b6-aac1-bd58200ab5cb" providerId="AD" clId="Web-{BDB4DF50-2FE6-F354-BAB8-0E6D6FAC2BAA}" dt="2026-08-24T02:20:42.206" v="0" actId="1076"/>
        <pc:sldMkLst>
          <pc:docMk/>
          <pc:sldMk cId="0" sldId="269"/>
        </pc:sldMkLst>
        <pc:spChg chg="mod">
          <ac:chgData name="MARIA CAMILA PACHECO MORALES" userId="S::mcpacheco@poligran.edu.co::f229b06e-2d8d-43b6-aac1-bd58200ab5cb" providerId="AD" clId="Web-{BDB4DF50-2FE6-F354-BAB8-0E6D6FAC2BAA}" dt="2026-08-24T02:20:42.206" v="0" actId="1076"/>
          <ac:spMkLst>
            <pc:docMk/>
            <pc:sldMk cId="0" sldId="26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3F763-CBE1-48D2-8745-9C963E1F732F}" type="datetimeFigureOut">
              <a:t>23/08/2026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8836A-9ADC-4CA3-81AE-A3C7FB9998B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6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05840"/>
            <a:ext cx="3017520" cy="3017520"/>
          </a:xfrm>
          <a:prstGeom prst="hexagon">
            <a:avLst/>
          </a:prstGeom>
          <a:solidFill>
            <a:srgbClr val="C1652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57200"/>
            <a:ext cx="1828800" cy="1828800"/>
          </a:xfrm>
          <a:prstGeom prst="hexagon">
            <a:avLst/>
          </a:prstGeom>
          <a:solidFill>
            <a:srgbClr val="F2A93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572000"/>
            <a:ext cx="3291840" cy="3291840"/>
          </a:xfrm>
          <a:prstGeom prst="hexagon">
            <a:avLst/>
          </a:prstGeom>
          <a:solidFill>
            <a:srgbClr val="C1652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WEB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</a:t>
            </a:r>
            <a:endParaRPr lang="en-US" sz="440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</a:t>
            </a:r>
            <a:endParaRPr lang="en-US" sz="440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F3D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integración, SOA y REST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57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Yamid Ramirez, MSc.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822960"/>
            <a:ext cx="2377440" cy="2377440"/>
          </a:xfrm>
          <a:prstGeom prst="hexagon">
            <a:avLst/>
          </a:prstGeom>
          <a:solidFill>
            <a:srgbClr val="F3DFD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</a:t>
            </a:r>
            <a:endParaRPr lang="en-US" sz="290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1D233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integración de aplicaciones?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1417320" y="2679192"/>
            <a:ext cx="8686800" cy="0"/>
          </a:xfrm>
          <a:prstGeom prst="line">
            <a:avLst/>
          </a:prstGeom>
          <a:noFill/>
          <a:ln w="12700">
            <a:solidFill>
              <a:srgbClr val="F0DC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34640"/>
            <a:ext cx="566928" cy="566928"/>
          </a:xfrm>
          <a:prstGeom prst="ellipse">
            <a:avLst/>
          </a:prstGeom>
          <a:solidFill>
            <a:srgbClr val="1D233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1417320" y="28346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niveles de integración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1417320" y="3547872"/>
            <a:ext cx="8686800" cy="0"/>
          </a:xfrm>
          <a:prstGeom prst="line">
            <a:avLst/>
          </a:prstGeom>
          <a:noFill/>
          <a:ln w="12700">
            <a:solidFill>
              <a:srgbClr val="F0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1D2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1417320" y="37033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SOA: arquitectura orientada a servicios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1417320" y="4416552"/>
            <a:ext cx="8686800" cy="0"/>
          </a:xfrm>
          <a:prstGeom prst="line">
            <a:avLst/>
          </a:prstGeom>
          <a:noFill/>
          <a:ln w="12700">
            <a:solidFill>
              <a:srgbClr val="F0DC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1D233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1417320" y="45720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un estilo para integrar por HTTP</a:t>
            </a:r>
            <a:endParaRPr lang="en-US" sz="1800"/>
          </a:p>
        </p:txBody>
      </p:sp>
      <p:sp>
        <p:nvSpPr>
          <p:cNvPr id="20" name="Shape 18"/>
          <p:cNvSpPr/>
          <p:nvPr/>
        </p:nvSpPr>
        <p:spPr>
          <a:xfrm>
            <a:off x="1417320" y="5285232"/>
            <a:ext cx="8686800" cy="0"/>
          </a:xfrm>
          <a:prstGeom prst="line">
            <a:avLst/>
          </a:prstGeom>
          <a:noFill/>
          <a:ln w="12700">
            <a:solidFill>
              <a:srgbClr val="F0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440680"/>
            <a:ext cx="566928" cy="566928"/>
          </a:xfrm>
          <a:prstGeom prst="ellipse">
            <a:avLst/>
          </a:prstGeom>
          <a:solidFill>
            <a:srgbClr val="1D233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440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1417320" y="54406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INTEGRACIÓN DE APLICACIONES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integrar aplicaciones?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6F5F3"/>
          </a:solidFill>
          <a:ln w="12700">
            <a:solidFill>
              <a:srgbClr val="F0DC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aplicaciones </a:t>
            </a:r>
            <a:r>
              <a:rPr lang="en-US" sz="15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hacer que sistemas de software independientes, muchas veces construidos en distintas tecnologías, intercambien datos y funcionalidad para operar como un todo coherente.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D23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49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surge?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organizaciones acumulan sistemas de distintas épocas y proveedores que deben trabajar juntos.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29768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D233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749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busca?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572000" y="4251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el trabajo manual repetido, reducir errores y sostener procesos de negocio de punta a punta.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804672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D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749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evoluciona?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8321040" y="4251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soluciones improvisadas hacia mecanismos cada vez más automatizados, desacoplados y gobernables.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2743200" cy="2743200"/>
          </a:xfrm>
          <a:prstGeom prst="hexagon">
            <a:avLst/>
          </a:prstGeom>
          <a:solidFill>
            <a:srgbClr val="C1652F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NIVELES DE INTEGRACIÓN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niveles de madurez</a:t>
            </a:r>
            <a:endParaRPr lang="en-US" sz="290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26304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155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trasladan datos entre sistemas a mano: exportar, revisar, digitar de nuevo.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337560" y="192024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2E2A3E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2194560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a punto</a:t>
            </a:r>
            <a:endParaRPr lang="en-US" sz="1550"/>
          </a:p>
        </p:txBody>
      </p:sp>
      <p:sp>
        <p:nvSpPr>
          <p:cNvPr id="14" name="Text 12"/>
          <p:cNvSpPr/>
          <p:nvPr/>
        </p:nvSpPr>
        <p:spPr>
          <a:xfrm>
            <a:off x="3566160" y="35204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sistema se conecta directamente con los demás mediante código a la medida.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26304D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2194560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635508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coordinación</a:t>
            </a:r>
            <a:endParaRPr lang="en-US" sz="1550"/>
          </a:p>
        </p:txBody>
      </p:sp>
      <p:sp>
        <p:nvSpPr>
          <p:cNvPr id="19" name="Text 17"/>
          <p:cNvSpPr/>
          <p:nvPr/>
        </p:nvSpPr>
        <p:spPr>
          <a:xfrm>
            <a:off x="6355080" y="35204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mediador central (bus o hub) enruta y transforma los mensajes entre sistemas.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8915400" y="192024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2E2A3E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2194560"/>
            <a:ext cx="548640" cy="54864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914400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orquestación</a:t>
            </a:r>
            <a:endParaRPr lang="en-US" sz="1550"/>
          </a:p>
        </p:txBody>
      </p:sp>
      <p:sp>
        <p:nvSpPr>
          <p:cNvPr id="24" name="Text 22"/>
          <p:cNvSpPr/>
          <p:nvPr/>
        </p:nvSpPr>
        <p:spPr>
          <a:xfrm>
            <a:off x="9144000" y="35204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orquestador define y controla explícitamente el proceso de negocio entre servicios.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F3D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resuelve las limitaciones del anterior, a costa de mayor inversión inicial en infraestructura y gobierno.</a:t>
            </a:r>
            <a:endParaRPr lang="en-US" sz="125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E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E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INTEGRACIÓN MANUAL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manual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6F5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</a:t>
            </a:r>
            <a:r>
              <a:rPr lang="en-US" sz="14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 la información entre sistemas: exporta un archivo de uno, lo revisa y lo vuelve a digitar o cargar en otro. No hay conexión automatizada entre las aplicaciones.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D23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429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370332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archivo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566160" y="3817620"/>
            <a:ext cx="2788920" cy="9144"/>
          </a:xfrm>
          <a:prstGeom prst="line">
            <a:avLst/>
          </a:prstGeom>
          <a:noFill/>
          <a:ln w="19050">
            <a:solidFill>
              <a:srgbClr val="C165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34290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5897880" y="3817620"/>
            <a:ext cx="2788920" cy="9144"/>
          </a:xfrm>
          <a:prstGeom prst="line">
            <a:avLst/>
          </a:prstGeom>
          <a:noFill/>
          <a:ln w="19050">
            <a:solidFill>
              <a:srgbClr val="C165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 de nuevo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8686800" y="34290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D233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3429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6F5F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92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aparece</a:t>
            </a:r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inicio de un proceso, con pocos sistemas o volúmenes bajos de datos.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6172200" y="470916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6F5F3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892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principal</a:t>
            </a:r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6446520" y="5257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digitación, demoras y dependencia total de la disponibilidad de una persona.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INTEGRACIÓN PUNTO A PUNTO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punto a punto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sistema </a:t>
            </a:r>
            <a:r>
              <a:rPr lang="en-US" sz="135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directamente con cada uno de los demás mediante interfaces o código a la medida. Con n sistemas, el número de conexiones crece rápidamente.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4846320" y="2743200"/>
            <a:ext cx="2377440" cy="1051560"/>
          </a:xfrm>
          <a:prstGeom prst="line">
            <a:avLst/>
          </a:prstGeom>
          <a:noFill/>
          <a:ln w="15875">
            <a:solidFill>
              <a:srgbClr val="D9B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2743200"/>
            <a:ext cx="9144" cy="2103120"/>
          </a:xfrm>
          <a:prstGeom prst="line">
            <a:avLst/>
          </a:prstGeom>
          <a:noFill/>
          <a:ln w="15875">
            <a:solidFill>
              <a:srgbClr val="D9B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468880" y="2743200"/>
            <a:ext cx="2377440" cy="1051560"/>
          </a:xfrm>
          <a:prstGeom prst="line">
            <a:avLst/>
          </a:prstGeom>
          <a:noFill/>
          <a:ln w="15875">
            <a:solidFill>
              <a:srgbClr val="D9B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4846320" y="3794760"/>
            <a:ext cx="2377440" cy="1051560"/>
          </a:xfrm>
          <a:prstGeom prst="line">
            <a:avLst/>
          </a:prstGeom>
          <a:noFill/>
          <a:ln w="15875">
            <a:solidFill>
              <a:srgbClr val="D9B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3794760"/>
            <a:ext cx="4754880" cy="9144"/>
          </a:xfrm>
          <a:prstGeom prst="line">
            <a:avLst/>
          </a:prstGeom>
          <a:noFill/>
          <a:ln w="15875">
            <a:solidFill>
              <a:srgbClr val="D9B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3794760"/>
            <a:ext cx="2377440" cy="1051560"/>
          </a:xfrm>
          <a:prstGeom prst="line">
            <a:avLst/>
          </a:prstGeom>
          <a:noFill/>
          <a:ln w="15875">
            <a:solidFill>
              <a:srgbClr val="D9B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24688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D2333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1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537960" y="35204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D2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520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2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160520" y="45720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D2333"/>
          </a:solidFill>
          <a:ln/>
        </p:spPr>
      </p:sp>
      <p:sp>
        <p:nvSpPr>
          <p:cNvPr id="16" name="Text 14"/>
          <p:cNvSpPr/>
          <p:nvPr/>
        </p:nvSpPr>
        <p:spPr>
          <a:xfrm>
            <a:off x="4160520" y="4572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3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1783080" y="35204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D2333"/>
          </a:solidFill>
          <a:ln/>
        </p:spPr>
      </p:sp>
      <p:sp>
        <p:nvSpPr>
          <p:cNvPr id="18" name="Text 16"/>
          <p:cNvSpPr/>
          <p:nvPr/>
        </p:nvSpPr>
        <p:spPr>
          <a:xfrm>
            <a:off x="1783080" y="3520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4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3DFD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4 sistemas ya se necesitan 6 conexiones distintas </a:t>
            </a:r>
            <a:r>
              <a:rPr lang="en-US" sz="13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 con 10 sistemas, hasta 45). Cada conexión es un punto de mantenimiento propio, difícil de escalar y de gobernar.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INTEGRACIÓN POR COORDINACIÓN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por coordinación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mediador central </a:t>
            </a:r>
            <a:r>
              <a:rPr lang="en-US" sz="135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 de integración o hub) recibe los mensajes de cada sistema, los transforma si es necesario y los enruta hacia el destino correcto. Los sistemas ya no se conocen entre sí.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2194560" y="3429000"/>
            <a:ext cx="3901470" cy="9144"/>
          </a:xfrm>
          <a:prstGeom prst="line">
            <a:avLst/>
          </a:prstGeom>
          <a:noFill/>
          <a:ln w="15875">
            <a:solidFill>
              <a:srgbClr val="D9B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2514600"/>
            <a:ext cx="1615470" cy="914400"/>
          </a:xfrm>
          <a:prstGeom prst="line">
            <a:avLst/>
          </a:prstGeom>
          <a:noFill/>
          <a:ln w="15875">
            <a:solidFill>
              <a:srgbClr val="D9B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096030" y="2514600"/>
            <a:ext cx="1630650" cy="914400"/>
          </a:xfrm>
          <a:prstGeom prst="line">
            <a:avLst/>
          </a:prstGeom>
          <a:noFill/>
          <a:ln w="15875">
            <a:solidFill>
              <a:srgbClr val="D9B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30" y="3429000"/>
            <a:ext cx="3916650" cy="9144"/>
          </a:xfrm>
          <a:prstGeom prst="line">
            <a:avLst/>
          </a:prstGeom>
          <a:noFill/>
          <a:ln w="15875">
            <a:solidFill>
              <a:srgbClr val="D9B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4480560" y="3429000"/>
            <a:ext cx="1615470" cy="914400"/>
          </a:xfrm>
          <a:prstGeom prst="line">
            <a:avLst/>
          </a:prstGeom>
          <a:noFill/>
          <a:ln w="15875">
            <a:solidFill>
              <a:srgbClr val="D9B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30" y="3429000"/>
            <a:ext cx="1630650" cy="914400"/>
          </a:xfrm>
          <a:prstGeom prst="line">
            <a:avLst/>
          </a:prstGeom>
          <a:noFill/>
          <a:ln w="15875">
            <a:solidFill>
              <a:srgbClr val="D9B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90190" y="304038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5090190" y="30403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1508760" y="3136392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1D2333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313639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794760" y="2221992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1D2333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222199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7040880" y="2221992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1D2333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22199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326880" y="3136392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1D2333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313639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3794760" y="4050792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1D2333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405079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7040880" y="4050792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1D2333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405079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6F5F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clave: </a:t>
            </a:r>
            <a:r>
              <a:rPr lang="en-US" sz="13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sistema solo necesita conectarse una vez, al bus. Agregar un sistema nuevo no obliga a modificar los demás.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2743200" cy="2743200"/>
          </a:xfrm>
          <a:prstGeom prst="hexagon">
            <a:avLst/>
          </a:prstGeom>
          <a:solidFill>
            <a:srgbClr val="C1652F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· INTEGRACIÓN POR ORQUESTACIÓN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por orquestación</a:t>
            </a:r>
            <a:endParaRPr lang="en-US" sz="290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orquestador </a:t>
            </a: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 ejecuta explícitamente el proceso de negocio: decide en qué orden se invoca cada servicio, maneja errores y compensaciones si algo falla en el camino.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4727448" y="274320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C1652F"/>
          </a:solidFill>
          <a:ln/>
        </p:spPr>
      </p:sp>
      <p:sp>
        <p:nvSpPr>
          <p:cNvPr id="7" name="Text 5"/>
          <p:cNvSpPr/>
          <p:nvPr/>
        </p:nvSpPr>
        <p:spPr>
          <a:xfrm>
            <a:off x="4727448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de proceso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2125980" y="4206240"/>
            <a:ext cx="9144" cy="50292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7091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26304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709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Validar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 flipV="1">
            <a:off x="2125980" y="3474720"/>
            <a:ext cx="3973068" cy="731520"/>
          </a:xfrm>
          <a:prstGeom prst="line">
            <a:avLst/>
          </a:prstGeom>
          <a:noFill/>
          <a:ln w="15875">
            <a:solidFill>
              <a:srgbClr val="F2A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4900" y="4206240"/>
            <a:ext cx="9144" cy="50292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47091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26304D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4709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Cobrar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 flipV="1">
            <a:off x="4914900" y="3474720"/>
            <a:ext cx="1184148" cy="731520"/>
          </a:xfrm>
          <a:prstGeom prst="line">
            <a:avLst/>
          </a:prstGeom>
          <a:noFill/>
          <a:ln w="15875">
            <a:solidFill>
              <a:srgbClr val="F2A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3820" y="4206240"/>
            <a:ext cx="9144" cy="50292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47091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2630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709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Reservar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6099048" y="3474720"/>
            <a:ext cx="1604772" cy="731520"/>
          </a:xfrm>
          <a:prstGeom prst="line">
            <a:avLst/>
          </a:prstGeom>
          <a:noFill/>
          <a:ln w="15875">
            <a:solidFill>
              <a:srgbClr val="F2A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92740" y="4206240"/>
            <a:ext cx="9144" cy="50292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47091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26304D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4709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Notificar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6099048" y="3474720"/>
            <a:ext cx="4393692" cy="731520"/>
          </a:xfrm>
          <a:prstGeom prst="line">
            <a:avLst/>
          </a:prstGeom>
          <a:noFill/>
          <a:ln w="15875">
            <a:solidFill>
              <a:srgbClr val="F2A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F3D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orquestador conoce y controla todo el flujo; los servicios solo ejecutan su tarea cuando se les indica.</a:t>
            </a:r>
            <a:endParaRPr lang="en-US" sz="125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E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E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COMPARACIÓN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cuatro niveles frente a frente</a:t>
            </a:r>
            <a:endParaRPr lang="en-US" sz="29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30175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a punto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Coordinación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Orquestación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Automatización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entre pares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Alta, centralizada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y gobernada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Acoplamiento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(vía bus)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(vía proceso)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Escalabilidad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baja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Media-alta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Visibilidad del proceso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la persona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Centralizada y explícita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práctica, muchas organizaciones combinan varios niveles según el sistema y el proceso involucrado.</a:t>
            </a:r>
            <a:endParaRPr lang="en-US" sz="125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SOA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SOA: Arquitectura Orientada a Servicios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6F5F3"/>
          </a:solidFill>
          <a:ln w="12700">
            <a:solidFill>
              <a:srgbClr val="F0DC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b="1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</a:t>
            </a:r>
            <a:r>
              <a:rPr lang="en-US" sz="145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(Service-Oriented Architecture) es un estilo arquitectónico que organiza las capacidades de negocio como servicios independientes, reutilizables y expuestos mediante contratos bien definidos, que se pueden combinar para construir soluciones más grandes.</a:t>
            </a:r>
            <a:endParaRPr lang="en-US" sz="145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1D23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6758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 acoplamiento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dependen lo mínimo posible unos de otros.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6172200" y="356616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1D233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36758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Reutilización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6400800" y="40690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servicio se usa en distintos procesos y aplicaciones.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1D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646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bien definido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777240" y="52578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del servicio es explícita y estable para sus consumidores.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6172200" y="475488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1D23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48646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Ubicación transparente</a:t>
            </a:r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6400800" y="52578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consumidor no necesita conocer los detalles técnicos internos del servicio.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SOA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componentes de SOA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clásico de SOA describe tres roles que interactúan entre sí: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4632990" y="237744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4632990" y="2377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servicios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1828800" y="44805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1D2333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4480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servicio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7434072" y="44805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1D2333"/>
          </a:solidFill>
          <a:ln/>
        </p:spPr>
      </p:sp>
      <p:sp>
        <p:nvSpPr>
          <p:cNvPr id="10" name="Text 8"/>
          <p:cNvSpPr/>
          <p:nvPr/>
        </p:nvSpPr>
        <p:spPr>
          <a:xfrm>
            <a:off x="7434072" y="4480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servicio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 flipV="1">
            <a:off x="3291840" y="3108960"/>
            <a:ext cx="1524030" cy="1371600"/>
          </a:xfrm>
          <a:prstGeom prst="line">
            <a:avLst/>
          </a:prstGeom>
          <a:noFill/>
          <a:ln w="19050">
            <a:solidFill>
              <a:srgbClr val="D9B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Publica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7376190" y="3108960"/>
            <a:ext cx="1520922" cy="1371600"/>
          </a:xfrm>
          <a:prstGeom prst="line">
            <a:avLst/>
          </a:prstGeom>
          <a:noFill/>
          <a:ln w="19050">
            <a:solidFill>
              <a:srgbClr val="D9B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Descubre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754880" y="4846320"/>
            <a:ext cx="2679192" cy="9144"/>
          </a:xfrm>
          <a:prstGeom prst="line">
            <a:avLst/>
          </a:prstGeom>
          <a:noFill/>
          <a:ln w="19050">
            <a:solidFill>
              <a:srgbClr val="C165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93776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Invoca el servicio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6F5F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permite que proveedores y consumidores se encuentren sin conocerse de antemano, favoreciendo el bajo acoplamiento.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2743200" cy="2743200"/>
          </a:xfrm>
          <a:prstGeom prst="hexagon">
            <a:avLst/>
          </a:prstGeom>
          <a:solidFill>
            <a:srgbClr val="C1652F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REST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REST: un estilo para integrar por HTTP</a:t>
            </a:r>
            <a:endParaRPr lang="en-US" sz="29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26304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</a:t>
            </a: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(Representational State Transfer) es un estilo arquitectónico para diseñar servicios que se comunican sobre HTTP, donde todo se modela como recursos identificados por una URL y manipulados con los verbos HTTP.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263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49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entidad del dominio: un usuario, un pedido, un producto… identificada por una URL.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429768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26304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749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Representación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4572000" y="4251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recurso se transfiere en un formato como JSON o XML, no como el objeto interno del servidor.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804672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26304D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3749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uniforme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8321040" y="4251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convenciones (URLs, verbos, códigos de estado) aplican a todos los recursos.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E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E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REST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restricciones del estilo REST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6F5F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Cliente-servidor</a:t>
            </a:r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777240" y="249631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la interfaz de usuario del almacenamiento de datos, permitiendo evolucionar cada lado por separado.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6F5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0116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estado (stateless)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6400800" y="249631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solicitud contiene toda la información necesaria; el servidor no guarda contexto entre solicitudes.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6F5F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204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Cacheable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777240" y="400507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respuestas indican si pueden almacenarse en caché, mejorando el rendimiento del cliente.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172200" y="33832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6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5204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uniforme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6400800" y="400507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consistente de convenciones para identificar y manipular recursos.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6F5F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292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en capas</a:t>
            </a:r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777240" y="551383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no necesita saber si habla directo con el servidor o con un intermediario.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6F5F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50292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bajo demanda (opcional)</a:t>
            </a:r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6400800" y="551383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puede enviar lógica ejecutable al cliente cuando aplica.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-321765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REST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D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Recursos, URLs y verbos HTTP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recurso se manipula con distintos verbos, sin cambiar la URL:</a:t>
            </a:r>
            <a:endParaRPr lang="en-US" sz="135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28346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sobre el recurso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B20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/pedidos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todos los pedidos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B20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/pedidos/25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 el pedido 25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B20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/pedidos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un nuevo pedido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B20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/pedidos/25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Reemplazar el pedido 25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B20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/pedidos/25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el pedido 25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recurso (“pedidos”) siempre es el mismo; lo que cambia es la intención expresada por el verbo HTTP.</a:t>
            </a:r>
            <a:endParaRPr lang="en-US" sz="125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05840"/>
            <a:ext cx="2926080" cy="2926080"/>
          </a:xfrm>
          <a:prstGeom prst="hexagon">
            <a:avLst/>
          </a:prstGeom>
          <a:solidFill>
            <a:srgbClr val="C1652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5793" y="4226684"/>
            <a:ext cx="3108960" cy="3108960"/>
          </a:xfrm>
          <a:prstGeom prst="hexagon">
            <a:avLst/>
          </a:prstGeom>
          <a:solidFill>
            <a:srgbClr val="F2A93B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CONCLUSIONES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clave</a:t>
            </a:r>
            <a:endParaRPr lang="en-US" sz="320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64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 de aplicaciones madura por niveles: de lo manual a lo punto a punto, y de ahí a la coordinación y la orquestación.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060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reduce el acoplamiento y aumenta la automatización, pero exige más infraestructura y gobierno del proceso.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548640" y="3602736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4728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propone pensar el software como servicios de negocio reutilizables, con contratos claros y bajo acoplamiento.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548640" y="444398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8853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aterriza muchas ideas de integración usando HTTP: recursos, URLs y verbos como interfaz uniforme.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548640" y="5285232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1297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nivel y el estilo correctos depende del número de sistemas, la complejidad del proceso y las capacidades del equipo.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E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Aplicaciones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E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580ffa-7812-447c-8312-e5d0f345b591" xsi:nil="true"/>
    <lcf76f155ced4ddcb4097134ff3c332f xmlns="a34bb971-012b-4567-9648-5c0361213ef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11AAD43A286014F8D53184AADB58E06" ma:contentTypeVersion="9" ma:contentTypeDescription="Crear nuevo documento." ma:contentTypeScope="" ma:versionID="8ad9f7d0c786503c468e4c541715b85f">
  <xsd:schema xmlns:xsd="http://www.w3.org/2001/XMLSchema" xmlns:xs="http://www.w3.org/2001/XMLSchema" xmlns:p="http://schemas.microsoft.com/office/2006/metadata/properties" xmlns:ns2="a34bb971-012b-4567-9648-5c0361213ef1" xmlns:ns3="ae580ffa-7812-447c-8312-e5d0f345b591" targetNamespace="http://schemas.microsoft.com/office/2006/metadata/properties" ma:root="true" ma:fieldsID="a146d391b1f9610a36bdbc3705f46f7e" ns2:_="" ns3:_="">
    <xsd:import namespace="a34bb971-012b-4567-9648-5c0361213ef1"/>
    <xsd:import namespace="ae580ffa-7812-447c-8312-e5d0f345b5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4bb971-012b-4567-9648-5c0361213e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55b28e8-f6d8-41f4-8dfa-69b184ca5c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580ffa-7812-447c-8312-e5d0f345b59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c88a769-ba90-44ee-85d2-5180b37c7048}" ma:internalName="TaxCatchAll" ma:showField="CatchAllData" ma:web="ae580ffa-7812-447c-8312-e5d0f345b5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374C2-D04A-4432-B6B6-3E15E511D1B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E565187-6D19-4855-8F61-90E0DA90F9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7B260F-F77E-4D73-897E-9947B8321DD0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15</Slides>
  <Notes>15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2026-08-18T00:27:54Z</dcterms:created>
  <dcterms:modified xsi:type="dcterms:W3CDTF">2026-08-24T02:20:42Z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0x010100211AAD43A286014F8D53184AADB58E06</vt:lpwstr>
  </property>
</Properties>
</file>