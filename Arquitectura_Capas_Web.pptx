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F11343-B3E5-C274-D1DD-C8DE73227C4C}" v="1" dt="2026-08-25T19:36:41.8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D0F11343-B3E5-C274-D1DD-C8DE73227C4C}"/>
    <pc:docChg chg="delSld">
      <pc:chgData name="" userId="" providerId="" clId="Web-{D0F11343-B3E5-C274-D1DD-C8DE73227C4C}" dt="2026-08-25T19:36:41.805" v="0"/>
      <pc:docMkLst>
        <pc:docMk/>
      </pc:docMkLst>
      <pc:sldChg chg="del">
        <pc:chgData name="" userId="" providerId="" clId="Web-{D0F11343-B3E5-C274-D1DD-C8DE73227C4C}" dt="2026-08-25T19:36:41.805" v="0"/>
        <pc:sldMkLst>
          <pc:docMk/>
          <pc:sldMk cId="0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81E6FA-AE40-494D-B2F5-7E842DDE2532}" type="datetimeFigureOut"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4A12C4-A824-4699-AEBA-3D99F1AAC31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66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005840"/>
            <a:ext cx="3017520" cy="3017520"/>
          </a:xfrm>
          <a:prstGeom prst="hexagon">
            <a:avLst/>
          </a:prstGeom>
          <a:solidFill>
            <a:srgbClr val="8E44A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57200"/>
            <a:ext cx="1828800" cy="1828800"/>
          </a:xfrm>
          <a:prstGeom prst="hexagon">
            <a:avLst/>
          </a:prstGeom>
          <a:solidFill>
            <a:srgbClr val="F2A93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572000"/>
            <a:ext cx="3291840" cy="3291840"/>
          </a:xfrm>
          <a:prstGeom prst="hexagon">
            <a:avLst/>
          </a:prstGeom>
          <a:solidFill>
            <a:srgbClr val="8E44AD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WEB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en Capas</a:t>
            </a:r>
            <a:endParaRPr lang="en-US" sz="380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Aplicaciones Web</a:t>
            </a:r>
            <a:endParaRPr lang="en-US" sz="380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>
                <a:solidFill>
                  <a:srgbClr val="ED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datos, Entities, DAO, Manager e Interfaz de Usuario</a:t>
            </a:r>
            <a:endParaRPr lang="en-US" sz="1450"/>
          </a:p>
        </p:txBody>
      </p:sp>
      <p:sp>
        <p:nvSpPr>
          <p:cNvPr id="8" name="Shape 6"/>
          <p:cNvSpPr/>
          <p:nvPr/>
        </p:nvSpPr>
        <p:spPr>
          <a:xfrm>
            <a:off x="822960" y="5120640"/>
            <a:ext cx="201168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303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Yamid Ramirez, MSc.</a:t>
            </a:r>
            <a:endParaRPr 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914400"/>
            <a:ext cx="2743200" cy="2743200"/>
          </a:xfrm>
          <a:prstGeom prst="hexagon">
            <a:avLst/>
          </a:prstGeom>
          <a:solidFill>
            <a:srgbClr val="8E44AD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VISIÓN GENERAL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capas, una responsabilidad cada una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48840" cy="3931920"/>
          </a:xfrm>
          <a:prstGeom prst="roundRect">
            <a:avLst>
              <a:gd name="adj" fmla="val 5106"/>
            </a:avLst>
          </a:prstGeom>
          <a:solidFill>
            <a:srgbClr val="241F33"/>
          </a:solidFill>
          <a:ln/>
        </p:spPr>
      </p:sp>
      <p:sp>
        <p:nvSpPr>
          <p:cNvPr id="6" name="Shape 4"/>
          <p:cNvSpPr/>
          <p:nvPr/>
        </p:nvSpPr>
        <p:spPr>
          <a:xfrm>
            <a:off x="1348740" y="2194560"/>
            <a:ext cx="548640" cy="54864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7" name="Text 5"/>
          <p:cNvSpPr/>
          <p:nvPr/>
        </p:nvSpPr>
        <p:spPr>
          <a:xfrm>
            <a:off x="13487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1783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se persiste la información de forma duradera.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2816352" y="1965960"/>
            <a:ext cx="2148840" cy="3931920"/>
          </a:xfrm>
          <a:prstGeom prst="roundRect">
            <a:avLst>
              <a:gd name="adj" fmla="val 5106"/>
            </a:avLst>
          </a:prstGeom>
          <a:solidFill>
            <a:srgbClr val="2C2640"/>
          </a:solidFill>
          <a:ln/>
        </p:spPr>
      </p:sp>
      <p:sp>
        <p:nvSpPr>
          <p:cNvPr id="11" name="Shape 9"/>
          <p:cNvSpPr/>
          <p:nvPr/>
        </p:nvSpPr>
        <p:spPr>
          <a:xfrm>
            <a:off x="3616452" y="2194560"/>
            <a:ext cx="548640" cy="54864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2" name="Text 10"/>
          <p:cNvSpPr/>
          <p:nvPr/>
        </p:nvSpPr>
        <p:spPr>
          <a:xfrm>
            <a:off x="3616452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2953512" y="2926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Entities</a:t>
            </a:r>
            <a:endParaRPr lang="en-US" sz="1350"/>
          </a:p>
        </p:txBody>
      </p:sp>
      <p:sp>
        <p:nvSpPr>
          <p:cNvPr id="14" name="Text 12"/>
          <p:cNvSpPr/>
          <p:nvPr/>
        </p:nvSpPr>
        <p:spPr>
          <a:xfrm>
            <a:off x="2999232" y="3611880"/>
            <a:ext cx="1783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Representan el modelo de negocio dentro del código.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5084064" y="1965960"/>
            <a:ext cx="2148840" cy="3931920"/>
          </a:xfrm>
          <a:prstGeom prst="roundRect">
            <a:avLst>
              <a:gd name="adj" fmla="val 5106"/>
            </a:avLst>
          </a:prstGeom>
          <a:solidFill>
            <a:srgbClr val="241F33"/>
          </a:solidFill>
          <a:ln/>
        </p:spPr>
      </p:sp>
      <p:sp>
        <p:nvSpPr>
          <p:cNvPr id="16" name="Shape 14"/>
          <p:cNvSpPr/>
          <p:nvPr/>
        </p:nvSpPr>
        <p:spPr>
          <a:xfrm>
            <a:off x="5884164" y="2194560"/>
            <a:ext cx="548640" cy="54864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7" name="Text 15"/>
          <p:cNvSpPr/>
          <p:nvPr/>
        </p:nvSpPr>
        <p:spPr>
          <a:xfrm>
            <a:off x="5884164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5221224" y="2926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DAO</a:t>
            </a:r>
            <a:endParaRPr lang="en-US" sz="1350"/>
          </a:p>
        </p:txBody>
      </p:sp>
      <p:sp>
        <p:nvSpPr>
          <p:cNvPr id="19" name="Text 17"/>
          <p:cNvSpPr/>
          <p:nvPr/>
        </p:nvSpPr>
        <p:spPr>
          <a:xfrm>
            <a:off x="5266944" y="3611880"/>
            <a:ext cx="1783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 cada entity con operaciones CRUD.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7351776" y="1965960"/>
            <a:ext cx="2148840" cy="3931920"/>
          </a:xfrm>
          <a:prstGeom prst="roundRect">
            <a:avLst>
              <a:gd name="adj" fmla="val 5106"/>
            </a:avLst>
          </a:prstGeom>
          <a:solidFill>
            <a:srgbClr val="2C2640"/>
          </a:solidFill>
          <a:ln/>
        </p:spPr>
      </p:sp>
      <p:sp>
        <p:nvSpPr>
          <p:cNvPr id="21" name="Shape 19"/>
          <p:cNvSpPr/>
          <p:nvPr/>
        </p:nvSpPr>
        <p:spPr>
          <a:xfrm>
            <a:off x="8151876" y="2194560"/>
            <a:ext cx="548640" cy="54864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2" name="Text 20"/>
          <p:cNvSpPr/>
          <p:nvPr/>
        </p:nvSpPr>
        <p:spPr>
          <a:xfrm>
            <a:off x="8151876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/>
          </a:p>
        </p:txBody>
      </p:sp>
      <p:sp>
        <p:nvSpPr>
          <p:cNvPr id="23" name="Text 21"/>
          <p:cNvSpPr/>
          <p:nvPr/>
        </p:nvSpPr>
        <p:spPr>
          <a:xfrm>
            <a:off x="7488936" y="2926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</a:t>
            </a:r>
            <a:endParaRPr lang="en-US" sz="1350"/>
          </a:p>
        </p:txBody>
      </p:sp>
      <p:sp>
        <p:nvSpPr>
          <p:cNvPr id="24" name="Text 22"/>
          <p:cNvSpPr/>
          <p:nvPr/>
        </p:nvSpPr>
        <p:spPr>
          <a:xfrm>
            <a:off x="7534656" y="3611880"/>
            <a:ext cx="1783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 DAOs para resolver un requisito funcional.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9619488" y="1965960"/>
            <a:ext cx="2148840" cy="3931920"/>
          </a:xfrm>
          <a:prstGeom prst="roundRect">
            <a:avLst>
              <a:gd name="adj" fmla="val 5106"/>
            </a:avLst>
          </a:prstGeom>
          <a:solidFill>
            <a:srgbClr val="241F33"/>
          </a:solidFill>
          <a:ln/>
        </p:spPr>
      </p:sp>
      <p:sp>
        <p:nvSpPr>
          <p:cNvPr id="26" name="Shape 24"/>
          <p:cNvSpPr/>
          <p:nvPr/>
        </p:nvSpPr>
        <p:spPr>
          <a:xfrm>
            <a:off x="10419588" y="2194560"/>
            <a:ext cx="548640" cy="54864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7" name="Text 25"/>
          <p:cNvSpPr/>
          <p:nvPr/>
        </p:nvSpPr>
        <p:spPr>
          <a:xfrm>
            <a:off x="10419588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/>
          </a:p>
        </p:txBody>
      </p:sp>
      <p:sp>
        <p:nvSpPr>
          <p:cNvPr id="28" name="Text 26"/>
          <p:cNvSpPr/>
          <p:nvPr/>
        </p:nvSpPr>
        <p:spPr>
          <a:xfrm>
            <a:off x="9756648" y="2926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Interfaz de usuario</a:t>
            </a:r>
            <a:endParaRPr lang="en-US" sz="1350"/>
          </a:p>
        </p:txBody>
      </p:sp>
      <p:sp>
        <p:nvSpPr>
          <p:cNvPr id="29" name="Text 27"/>
          <p:cNvSpPr/>
          <p:nvPr/>
        </p:nvSpPr>
        <p:spPr>
          <a:xfrm>
            <a:off x="9802368" y="3611880"/>
            <a:ext cx="1783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que se conectan con los managers.</a:t>
            </a:r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ED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solo conoce a la capa inmediatamente inferior: la interfaz nunca habla directo con la base de datos.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AC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 para Aplicaciones Web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C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· BASE DE DATOS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 o repositorio de datos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6F4F7"/>
          </a:solidFill>
          <a:ln w="12700">
            <a:solidFill>
              <a:srgbClr val="EADF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00" b="1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datos </a:t>
            </a:r>
            <a:r>
              <a:rPr lang="en-US" sz="150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lugar donde la información del sistema se guarda de forma duradera: sobrevive a que la aplicación se cierre o el servidor se reinicie.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1E1B2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749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Tablas o colecciones</a:t>
            </a:r>
            <a:endParaRPr lang="en-US" sz="145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que almacenan los datos: una por cada tipo de entidad relevante.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297680" y="35204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1E1B2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3749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de base de datos</a:t>
            </a:r>
            <a:endParaRPr lang="en-US" sz="1450"/>
          </a:p>
        </p:txBody>
      </p:sp>
      <p:sp>
        <p:nvSpPr>
          <p:cNvPr id="11" name="Text 9"/>
          <p:cNvSpPr/>
          <p:nvPr/>
        </p:nvSpPr>
        <p:spPr>
          <a:xfrm>
            <a:off x="4572000" y="42519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que gestiona el almacenamiento (relacional o NoSQL).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8046720" y="35204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1E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749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controlado</a:t>
            </a:r>
            <a:endParaRPr lang="en-US" sz="1450"/>
          </a:p>
        </p:txBody>
      </p:sp>
      <p:sp>
        <p:nvSpPr>
          <p:cNvPr id="14" name="Text 12"/>
          <p:cNvSpPr/>
          <p:nvPr/>
        </p:nvSpPr>
        <p:spPr>
          <a:xfrm>
            <a:off x="8321040" y="42519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capa DAO debería comunicarse directamente con la base de datos.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 para Aplicaciones Web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· ENTITIES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Entities: el modelo de negocio en código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entity </a:t>
            </a:r>
            <a:r>
              <a:rPr lang="en-US" sz="140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clase que representa un concepto del negocio (un Estudiante, un Curso, un Pedido) mediante sus atributos, tal como se guardará y se manipulará en el código.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6309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entity por cada concepto relevante del negocio</a:t>
            </a:r>
            <a:endParaRPr lang="en-US" sz="130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datos: atributos, getters/setters, sin lógica de negocio</a:t>
            </a:r>
            <a:endParaRPr lang="en-US" sz="130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“forma” en que viajan los datos entre capas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7178040" y="1828800"/>
            <a:ext cx="4480560" cy="4023360"/>
          </a:xfrm>
          <a:prstGeom prst="roundRect">
            <a:avLst>
              <a:gd name="adj" fmla="val 2273"/>
            </a:avLst>
          </a:prstGeom>
          <a:solidFill>
            <a:srgbClr val="241F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0" y="1938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Estudiante.java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7406640" y="2304288"/>
            <a:ext cx="4023360" cy="0"/>
          </a:xfrm>
          <a:prstGeom prst="line">
            <a:avLst/>
          </a:prstGeom>
          <a:noFill/>
          <a:ln w="12700">
            <a:solidFill>
              <a:srgbClr val="3E36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2395728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>
                <a:solidFill>
                  <a:srgbClr val="E3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Estudiante {</a:t>
            </a:r>
            <a:endParaRPr lang="en-US" sz="1050"/>
          </a:p>
          <a:p>
            <a:pPr marL="0" indent="0">
              <a:lnSpc>
                <a:spcPct val="135000"/>
              </a:lnSpc>
              <a:buNone/>
            </a:pPr>
            <a:r>
              <a:rPr lang="en-US" sz="1050">
                <a:solidFill>
                  <a:srgbClr val="E3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id;</a:t>
            </a:r>
            <a:endParaRPr lang="en-US" sz="1050"/>
          </a:p>
          <a:p>
            <a:pPr marL="0" indent="0">
              <a:lnSpc>
                <a:spcPct val="135000"/>
              </a:lnSpc>
              <a:buNone/>
            </a:pPr>
            <a:r>
              <a:rPr lang="en-US" sz="1050">
                <a:solidFill>
                  <a:srgbClr val="E3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nombre;</a:t>
            </a:r>
            <a:endParaRPr lang="en-US" sz="1050"/>
          </a:p>
          <a:p>
            <a:pPr marL="0" indent="0">
              <a:lnSpc>
                <a:spcPct val="135000"/>
              </a:lnSpc>
              <a:buNone/>
            </a:pPr>
            <a:r>
              <a:rPr lang="en-US" sz="1050">
                <a:solidFill>
                  <a:srgbClr val="E3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correo;</a:t>
            </a:r>
            <a:endParaRPr lang="en-US" sz="1050"/>
          </a:p>
          <a:p>
            <a:pPr marL="0" indent="0">
              <a:lnSpc>
                <a:spcPct val="135000"/>
              </a:lnSpc>
              <a:buNone/>
            </a:pPr>
            <a:r>
              <a:rPr lang="en-US" sz="1050">
                <a:solidFill>
                  <a:srgbClr val="E3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programa;</a:t>
            </a:r>
            <a:endParaRPr lang="en-US" sz="1050"/>
          </a:p>
          <a:p>
            <a:pPr marL="0" indent="0">
              <a:lnSpc>
                <a:spcPct val="135000"/>
              </a:lnSpc>
              <a:buNone/>
            </a:pPr>
            <a:endParaRPr lang="en-US" sz="1050"/>
          </a:p>
          <a:p>
            <a:pPr marL="0" indent="0">
              <a:lnSpc>
                <a:spcPct val="135000"/>
              </a:lnSpc>
              <a:buNone/>
            </a:pPr>
            <a:r>
              <a:rPr lang="en-US" sz="1050">
                <a:solidFill>
                  <a:srgbClr val="E3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getters y setters</a:t>
            </a:r>
            <a:endParaRPr lang="en-US" sz="1050"/>
          </a:p>
          <a:p>
            <a:pPr marL="0" indent="0">
              <a:lnSpc>
                <a:spcPct val="135000"/>
              </a:lnSpc>
              <a:buNone/>
            </a:pPr>
            <a:r>
              <a:rPr lang="en-US" sz="1050">
                <a:solidFill>
                  <a:srgbClr val="E3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 para Aplicaciones Web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914400"/>
            <a:ext cx="2743200" cy="2743200"/>
          </a:xfrm>
          <a:prstGeom prst="hexagon">
            <a:avLst/>
          </a:prstGeom>
          <a:solidFill>
            <a:srgbClr val="8E44AD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· DAO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DAO: un administrador CRUD por entity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(Data Access Object): 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entity existe un DAO responsable de leer y escribir esos datos en la base de datos, ocultando el detalle técnico del almacenamiento.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241F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EDE0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crear(entity)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un nuevo registro a partir de un entity.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3337560" y="283464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241F33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3520440" y="3520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EDE0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buscarPorId(id) / listar()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3566160" y="411480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uno o varios registros existentes.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6126480" y="283464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241F33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309360" y="3520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EDE0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actualizar(entity)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6355080" y="411480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 un registro existente.</a:t>
            </a:r>
            <a:endParaRPr lang="en-US" sz="1150"/>
          </a:p>
        </p:txBody>
      </p:sp>
      <p:sp>
        <p:nvSpPr>
          <p:cNvPr id="18" name="Shape 16"/>
          <p:cNvSpPr/>
          <p:nvPr/>
        </p:nvSpPr>
        <p:spPr>
          <a:xfrm>
            <a:off x="8915400" y="283464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241F33"/>
          </a:solidFill>
          <a:ln/>
        </p:spPr>
      </p:sp>
      <p:sp>
        <p:nvSpPr>
          <p:cNvPr id="19" name="Text 17"/>
          <p:cNvSpPr/>
          <p:nvPr/>
        </p:nvSpPr>
        <p:spPr>
          <a:xfrm>
            <a:off x="90982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9098280" y="3520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EDE0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eliminar(id)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9144000" y="411480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un registro por su identificador.</a:t>
            </a:r>
            <a:endParaRPr lang="en-US" sz="115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AC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 para Aplicaciones Web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C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· DAO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EstudianteDAO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método del DAO envuelve una operación CRUD sobre la entity que administra:</a:t>
            </a: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657600"/>
          </a:xfrm>
          <a:prstGeom prst="roundRect">
            <a:avLst>
              <a:gd name="adj" fmla="val 2500"/>
            </a:avLst>
          </a:prstGeom>
          <a:solidFill>
            <a:srgbClr val="241F3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957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EstudianteDAO.java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777240" y="2761488"/>
            <a:ext cx="10607040" cy="0"/>
          </a:xfrm>
          <a:prstGeom prst="line">
            <a:avLst/>
          </a:prstGeom>
          <a:noFill/>
          <a:ln w="12700">
            <a:solidFill>
              <a:srgbClr val="3E36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852928"/>
            <a:ext cx="10607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>
                <a:solidFill>
                  <a:srgbClr val="E3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EstudianteDAO {</a:t>
            </a:r>
            <a:endParaRPr lang="en-US" sz="1050"/>
          </a:p>
          <a:p>
            <a:pPr marL="0" indent="0">
              <a:lnSpc>
                <a:spcPct val="135000"/>
              </a:lnSpc>
              <a:buNone/>
            </a:pPr>
            <a:r>
              <a:rPr lang="en-US" sz="1050">
                <a:solidFill>
                  <a:srgbClr val="E3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crear(Estudiante e) { ... }</a:t>
            </a:r>
            <a:endParaRPr lang="en-US" sz="1050"/>
          </a:p>
          <a:p>
            <a:pPr marL="0" indent="0">
              <a:lnSpc>
                <a:spcPct val="135000"/>
              </a:lnSpc>
              <a:buNone/>
            </a:pPr>
            <a:r>
              <a:rPr lang="en-US" sz="1050">
                <a:solidFill>
                  <a:srgbClr val="E3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Estudiante buscarPorId(String id) { ... }</a:t>
            </a:r>
            <a:endParaRPr lang="en-US" sz="1050"/>
          </a:p>
          <a:p>
            <a:pPr marL="0" indent="0">
              <a:lnSpc>
                <a:spcPct val="135000"/>
              </a:lnSpc>
              <a:buNone/>
            </a:pPr>
            <a:r>
              <a:rPr lang="en-US" sz="1050">
                <a:solidFill>
                  <a:srgbClr val="E3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List&lt;Estudiante&gt; listar() { ... }</a:t>
            </a:r>
            <a:endParaRPr lang="en-US" sz="1050"/>
          </a:p>
          <a:p>
            <a:pPr marL="0" indent="0">
              <a:lnSpc>
                <a:spcPct val="135000"/>
              </a:lnSpc>
              <a:buNone/>
            </a:pPr>
            <a:r>
              <a:rPr lang="en-US" sz="1050">
                <a:solidFill>
                  <a:srgbClr val="E3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actualizar(Estudiante e) { ... }</a:t>
            </a:r>
            <a:endParaRPr lang="en-US" sz="1050"/>
          </a:p>
          <a:p>
            <a:pPr marL="0" indent="0">
              <a:lnSpc>
                <a:spcPct val="135000"/>
              </a:lnSpc>
              <a:buNone/>
            </a:pPr>
            <a:r>
              <a:rPr lang="en-US" sz="1050">
                <a:solidFill>
                  <a:srgbClr val="E3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eliminar(String id) { ... }</a:t>
            </a:r>
            <a:endParaRPr lang="en-US" sz="1050"/>
          </a:p>
          <a:p>
            <a:pPr marL="0" indent="0">
              <a:lnSpc>
                <a:spcPct val="135000"/>
              </a:lnSpc>
              <a:buNone/>
            </a:pPr>
            <a:r>
              <a:rPr lang="en-US" sz="1050">
                <a:solidFill>
                  <a:srgbClr val="E3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 para Aplicaciones Web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· MANAGER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Manager: la lógica del requisito funcional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6F4F7"/>
          </a:solidFill>
          <a:ln w="12700">
            <a:solidFill>
              <a:srgbClr val="EADF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00" b="1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manager </a:t>
            </a:r>
            <a:r>
              <a:rPr lang="en-US" sz="150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 uno o varios DAOs para cumplir un requisito funcional concreto: valida reglas de negocio, combina datos de distintas entities y decide qué operaciones ejecutar.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1E1B2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749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Orquesta DAOs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 los DAOs necesarios para completar una operación del negocio.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297680" y="35204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1E1B2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3749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 reglas de negocio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4572000" y="42519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condiciones antes de crear, actualizar o eliminar datos.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8046720" y="35204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1E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749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Expone un caso de uso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8321040" y="42519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métodos representan acciones que el usuario final reconoce.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 para Aplicaciones Web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· MANAGER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MatriculaManager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manager combina dos DAOs distintos para resolver el requisito “matricular a un estudiante en un curso”:</a:t>
            </a: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840480"/>
          </a:xfrm>
          <a:prstGeom prst="roundRect">
            <a:avLst>
              <a:gd name="adj" fmla="val 2381"/>
            </a:avLst>
          </a:prstGeom>
          <a:solidFill>
            <a:srgbClr val="241F3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957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MatriculaManager.java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777240" y="2761488"/>
            <a:ext cx="10607040" cy="0"/>
          </a:xfrm>
          <a:prstGeom prst="line">
            <a:avLst/>
          </a:prstGeom>
          <a:noFill/>
          <a:ln w="12700">
            <a:solidFill>
              <a:srgbClr val="3E36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852928"/>
            <a:ext cx="10607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>
                <a:solidFill>
                  <a:srgbClr val="E3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MatriculaManager {</a:t>
            </a:r>
            <a:endParaRPr lang="en-US" sz="1050"/>
          </a:p>
          <a:p>
            <a:pPr marL="0" indent="0">
              <a:lnSpc>
                <a:spcPct val="135000"/>
              </a:lnSpc>
              <a:buNone/>
            </a:pPr>
            <a:r>
              <a:rPr lang="en-US" sz="1050">
                <a:solidFill>
                  <a:srgbClr val="E3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EstudianteDAO estudianteDAO;</a:t>
            </a:r>
            <a:endParaRPr lang="en-US" sz="1050"/>
          </a:p>
          <a:p>
            <a:pPr marL="0" indent="0">
              <a:lnSpc>
                <a:spcPct val="135000"/>
              </a:lnSpc>
              <a:buNone/>
            </a:pPr>
            <a:r>
              <a:rPr lang="en-US" sz="1050">
                <a:solidFill>
                  <a:srgbClr val="E3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CursoDAO cursoDAO;</a:t>
            </a:r>
            <a:endParaRPr lang="en-US" sz="1050"/>
          </a:p>
          <a:p>
            <a:pPr marL="0" indent="0">
              <a:lnSpc>
                <a:spcPct val="135000"/>
              </a:lnSpc>
              <a:buNone/>
            </a:pPr>
            <a:r>
              <a:rPr lang="en-US" sz="1050">
                <a:solidFill>
                  <a:srgbClr val="E3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MatriculaDAO matriculaDAO;</a:t>
            </a:r>
            <a:endParaRPr lang="en-US" sz="1050"/>
          </a:p>
          <a:p>
            <a:pPr marL="0" indent="0">
              <a:lnSpc>
                <a:spcPct val="135000"/>
              </a:lnSpc>
              <a:buNone/>
            </a:pPr>
            <a:endParaRPr lang="en-US" sz="1050"/>
          </a:p>
          <a:p>
            <a:pPr marL="0" indent="0">
              <a:lnSpc>
                <a:spcPct val="135000"/>
              </a:lnSpc>
              <a:buNone/>
            </a:pPr>
            <a:r>
              <a:rPr lang="en-US" sz="1050">
                <a:solidFill>
                  <a:srgbClr val="E3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matricular(String idEstudiante, String idCurso) {</a:t>
            </a:r>
            <a:endParaRPr lang="en-US" sz="1050"/>
          </a:p>
          <a:p>
            <a:pPr marL="0" indent="0">
              <a:lnSpc>
                <a:spcPct val="135000"/>
              </a:lnSpc>
              <a:buNone/>
            </a:pPr>
            <a:r>
              <a:rPr lang="en-US" sz="1050">
                <a:solidFill>
                  <a:srgbClr val="E3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1. Validar cupos disponibles en el curso</a:t>
            </a:r>
            <a:endParaRPr lang="en-US" sz="1050"/>
          </a:p>
          <a:p>
            <a:pPr marL="0" indent="0">
              <a:lnSpc>
                <a:spcPct val="135000"/>
              </a:lnSpc>
              <a:buNone/>
            </a:pPr>
            <a:r>
              <a:rPr lang="en-US" sz="1050">
                <a:solidFill>
                  <a:srgbClr val="E3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Validar que el estudiante no esté ya matriculado</a:t>
            </a:r>
            <a:endParaRPr lang="en-US" sz="1050"/>
          </a:p>
          <a:p>
            <a:pPr marL="0" indent="0">
              <a:lnSpc>
                <a:spcPct val="135000"/>
              </a:lnSpc>
              <a:buNone/>
            </a:pPr>
            <a:r>
              <a:rPr lang="en-US" sz="1050">
                <a:solidFill>
                  <a:srgbClr val="E3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3. matriculaDAO.crear(nuevaMatricula)</a:t>
            </a:r>
            <a:endParaRPr lang="en-US" sz="1050"/>
          </a:p>
          <a:p>
            <a:pPr marL="0" indent="0">
              <a:lnSpc>
                <a:spcPct val="135000"/>
              </a:lnSpc>
              <a:buNone/>
            </a:pPr>
            <a:r>
              <a:rPr lang="en-US" sz="1050">
                <a:solidFill>
                  <a:srgbClr val="E3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/>
          </a:p>
          <a:p>
            <a:pPr marL="0" indent="0">
              <a:lnSpc>
                <a:spcPct val="135000"/>
              </a:lnSpc>
              <a:buNone/>
            </a:pPr>
            <a:r>
              <a:rPr lang="en-US" sz="1050">
                <a:solidFill>
                  <a:srgbClr val="E3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 para Aplicaciones Web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914400"/>
            <a:ext cx="2743200" cy="2743200"/>
          </a:xfrm>
          <a:prstGeom prst="hexagon">
            <a:avLst/>
          </a:prstGeom>
          <a:solidFill>
            <a:srgbClr val="8E44AD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· INTERFAZ DE USUARIO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Formularios conectados a los managers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de usuario 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 formularios y vistas; cuando el usuario interactúa, la interfaz llama al método correspondiente del manager y muestra el resultado.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241F33"/>
          </a:solidFill>
          <a:ln/>
        </p:spPr>
      </p:sp>
      <p:sp>
        <p:nvSpPr>
          <p:cNvPr id="7" name="Shape 5"/>
          <p:cNvSpPr/>
          <p:nvPr/>
        </p:nvSpPr>
        <p:spPr>
          <a:xfrm>
            <a:off x="2034540" y="3063240"/>
            <a:ext cx="640080" cy="64008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8" name="Text 6"/>
          <p:cNvSpPr/>
          <p:nvPr/>
        </p:nvSpPr>
        <p:spPr>
          <a:xfrm>
            <a:off x="203454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777240" y="3840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usuario llena el formulario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hace clic en “Matricular”.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4297680" y="283464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241F33"/>
          </a:solidFill>
          <a:ln/>
        </p:spPr>
      </p:sp>
      <p:sp>
        <p:nvSpPr>
          <p:cNvPr id="12" name="Shape 10"/>
          <p:cNvSpPr/>
          <p:nvPr/>
        </p:nvSpPr>
        <p:spPr>
          <a:xfrm>
            <a:off x="5783580" y="3063240"/>
            <a:ext cx="640080" cy="64008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3" name="Text 11"/>
          <p:cNvSpPr/>
          <p:nvPr/>
        </p:nvSpPr>
        <p:spPr>
          <a:xfrm>
            <a:off x="578358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4526280" y="3840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interfaz recoge los datos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4572000" y="4572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llama a matriculaManager.matricular(...).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8046720" y="283464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241F33"/>
          </a:solidFill>
          <a:ln/>
        </p:spPr>
      </p:sp>
      <p:sp>
        <p:nvSpPr>
          <p:cNvPr id="17" name="Shape 15"/>
          <p:cNvSpPr/>
          <p:nvPr/>
        </p:nvSpPr>
        <p:spPr>
          <a:xfrm>
            <a:off x="9532620" y="3063240"/>
            <a:ext cx="640080" cy="64008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8" name="Text 16"/>
          <p:cNvSpPr/>
          <p:nvPr/>
        </p:nvSpPr>
        <p:spPr>
          <a:xfrm>
            <a:off x="95326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/>
          </a:p>
        </p:txBody>
      </p:sp>
      <p:sp>
        <p:nvSpPr>
          <p:cNvPr id="19" name="Text 17"/>
          <p:cNvSpPr/>
          <p:nvPr/>
        </p:nvSpPr>
        <p:spPr>
          <a:xfrm>
            <a:off x="8275320" y="3840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manager procesa la solicitud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8321040" y="4572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interfaz muestra el resultado al usuario.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AC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 para Aplicaciones Web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C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DIAGRAMA DE ARQUITECTURA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cinco capas en conjunto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3992910" y="178308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8E44AD"/>
          </a:solidFill>
          <a:ln/>
        </p:spPr>
      </p:sp>
      <p:sp>
        <p:nvSpPr>
          <p:cNvPr id="5" name="Text 3"/>
          <p:cNvSpPr/>
          <p:nvPr/>
        </p:nvSpPr>
        <p:spPr>
          <a:xfrm>
            <a:off x="3992910" y="1783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Usuario (Formulario de Matrícula)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992910" y="260604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1E1B2E"/>
          </a:solidFill>
          <a:ln/>
        </p:spPr>
      </p:sp>
      <p:sp>
        <p:nvSpPr>
          <p:cNvPr id="7" name="Text 5"/>
          <p:cNvSpPr/>
          <p:nvPr/>
        </p:nvSpPr>
        <p:spPr>
          <a:xfrm>
            <a:off x="3992910" y="26060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MatriculaManager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2369850" y="34290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6C3A85"/>
          </a:solidFill>
          <a:ln/>
        </p:spPr>
      </p:sp>
      <p:sp>
        <p:nvSpPr>
          <p:cNvPr id="9" name="Text 7"/>
          <p:cNvSpPr/>
          <p:nvPr/>
        </p:nvSpPr>
        <p:spPr>
          <a:xfrm>
            <a:off x="2369850" y="3429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EstudianteDAO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4930170" y="34290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6C3A85"/>
          </a:solidFill>
          <a:ln/>
        </p:spPr>
      </p:sp>
      <p:sp>
        <p:nvSpPr>
          <p:cNvPr id="11" name="Text 9"/>
          <p:cNvSpPr/>
          <p:nvPr/>
        </p:nvSpPr>
        <p:spPr>
          <a:xfrm>
            <a:off x="4930170" y="3429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CursoDAO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7490490" y="34290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6C3A85"/>
          </a:solidFill>
          <a:ln/>
        </p:spPr>
      </p:sp>
      <p:sp>
        <p:nvSpPr>
          <p:cNvPr id="13" name="Text 11"/>
          <p:cNvSpPr/>
          <p:nvPr/>
        </p:nvSpPr>
        <p:spPr>
          <a:xfrm>
            <a:off x="7490490" y="3429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MatriculaDAO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2369850" y="416052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6F4F7"/>
          </a:solidFill>
          <a:ln/>
        </p:spPr>
      </p:sp>
      <p:sp>
        <p:nvSpPr>
          <p:cNvPr id="15" name="Text 13"/>
          <p:cNvSpPr/>
          <p:nvPr/>
        </p:nvSpPr>
        <p:spPr>
          <a:xfrm>
            <a:off x="2369850" y="4160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4930170" y="416052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6F4F7"/>
          </a:solidFill>
          <a:ln/>
        </p:spPr>
      </p:sp>
      <p:sp>
        <p:nvSpPr>
          <p:cNvPr id="17" name="Text 15"/>
          <p:cNvSpPr/>
          <p:nvPr/>
        </p:nvSpPr>
        <p:spPr>
          <a:xfrm>
            <a:off x="4930170" y="4160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7490490" y="416052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6F4F7"/>
          </a:solidFill>
          <a:ln/>
        </p:spPr>
      </p:sp>
      <p:sp>
        <p:nvSpPr>
          <p:cNvPr id="19" name="Text 17"/>
          <p:cNvSpPr/>
          <p:nvPr/>
        </p:nvSpPr>
        <p:spPr>
          <a:xfrm>
            <a:off x="7490490" y="4160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Matricula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2369850" y="4983480"/>
            <a:ext cx="7452360" cy="594360"/>
          </a:xfrm>
          <a:prstGeom prst="roundRect">
            <a:avLst>
              <a:gd name="adj" fmla="val 12308"/>
            </a:avLst>
          </a:prstGeom>
          <a:solidFill>
            <a:srgbClr val="1E1B2E"/>
          </a:solidFill>
          <a:ln/>
        </p:spPr>
      </p:sp>
      <p:sp>
        <p:nvSpPr>
          <p:cNvPr id="21" name="Text 19"/>
          <p:cNvSpPr/>
          <p:nvPr/>
        </p:nvSpPr>
        <p:spPr>
          <a:xfrm>
            <a:off x="2369850" y="4983480"/>
            <a:ext cx="7452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/ Repositorio de Datos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6096030" y="2331720"/>
            <a:ext cx="9144" cy="27432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3535710" y="3154680"/>
            <a:ext cx="2560320" cy="27432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96030" y="3154680"/>
            <a:ext cx="0" cy="27432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96030" y="3154680"/>
            <a:ext cx="2560320" cy="27432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535710" y="3931920"/>
            <a:ext cx="9144" cy="22860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96030" y="3931920"/>
            <a:ext cx="9144" cy="22860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656350" y="3931920"/>
            <a:ext cx="9144" cy="22860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535710" y="4663440"/>
            <a:ext cx="9144" cy="32004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096030" y="4663440"/>
            <a:ext cx="9144" cy="32004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656350" y="4663440"/>
            <a:ext cx="9144" cy="32004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9867930" y="3749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flecha representa una llamada de la capa superior hacia la inferior: la interfaz nunca accede directamente al DAO ni a la base de datos.</a:t>
            </a:r>
            <a:endParaRPr lang="en-US" sz="115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 para Aplicaciones Web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914400"/>
            <a:ext cx="2743200" cy="2743200"/>
          </a:xfrm>
          <a:prstGeom prst="hexagon">
            <a:avLst/>
          </a:prstGeom>
          <a:solidFill>
            <a:srgbClr val="8E44AD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FLUJO DE UNA OPERACIÓN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clic en el formulario a fila en la base de datos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952530" y="265176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8E44AD"/>
          </a:solidFill>
          <a:ln/>
        </p:spPr>
      </p:sp>
      <p:sp>
        <p:nvSpPr>
          <p:cNvPr id="6" name="Text 4"/>
          <p:cNvSpPr/>
          <p:nvPr/>
        </p:nvSpPr>
        <p:spPr>
          <a:xfrm>
            <a:off x="952530" y="2651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</a:t>
            </a:r>
            <a:endParaRPr lang="en-US" sz="115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Usuario</a:t>
            </a:r>
            <a:endParaRPr lang="en-US" sz="1150"/>
          </a:p>
        </p:txBody>
      </p:sp>
      <p:sp>
        <p:nvSpPr>
          <p:cNvPr id="7" name="Shape 5"/>
          <p:cNvSpPr/>
          <p:nvPr/>
        </p:nvSpPr>
        <p:spPr>
          <a:xfrm>
            <a:off x="3284250" y="2884932"/>
            <a:ext cx="320040" cy="9144"/>
          </a:xfrm>
          <a:prstGeom prst="line">
            <a:avLst/>
          </a:prstGeom>
          <a:noFill/>
          <a:ln w="1905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84250" y="3104388"/>
            <a:ext cx="320040" cy="9144"/>
          </a:xfrm>
          <a:prstGeom prst="line">
            <a:avLst/>
          </a:prstGeom>
          <a:noFill/>
          <a:ln w="19050">
            <a:solidFill>
              <a:srgbClr val="EDE0F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04290" y="265176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241F33"/>
          </a:solidFill>
          <a:ln/>
        </p:spPr>
      </p:sp>
      <p:sp>
        <p:nvSpPr>
          <p:cNvPr id="10" name="Text 8"/>
          <p:cNvSpPr/>
          <p:nvPr/>
        </p:nvSpPr>
        <p:spPr>
          <a:xfrm>
            <a:off x="3604290" y="2651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Matricula</a:t>
            </a:r>
            <a:endParaRPr lang="en-US" sz="115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5936010" y="2884932"/>
            <a:ext cx="320040" cy="9144"/>
          </a:xfrm>
          <a:prstGeom prst="line">
            <a:avLst/>
          </a:prstGeom>
          <a:noFill/>
          <a:ln w="1905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36010" y="3104388"/>
            <a:ext cx="320040" cy="9144"/>
          </a:xfrm>
          <a:prstGeom prst="line">
            <a:avLst/>
          </a:prstGeom>
          <a:noFill/>
          <a:ln w="19050">
            <a:solidFill>
              <a:srgbClr val="EDE0F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56050" y="265176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8E44AD"/>
          </a:solidFill>
          <a:ln/>
        </p:spPr>
      </p:sp>
      <p:sp>
        <p:nvSpPr>
          <p:cNvPr id="14" name="Text 12"/>
          <p:cNvSpPr/>
          <p:nvPr/>
        </p:nvSpPr>
        <p:spPr>
          <a:xfrm>
            <a:off x="6256050" y="2651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 /</a:t>
            </a:r>
            <a:endParaRPr lang="en-US" sz="115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DAO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8587770" y="2884932"/>
            <a:ext cx="320040" cy="9144"/>
          </a:xfrm>
          <a:prstGeom prst="line">
            <a:avLst/>
          </a:prstGeom>
          <a:noFill/>
          <a:ln w="1905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87770" y="3104388"/>
            <a:ext cx="320040" cy="9144"/>
          </a:xfrm>
          <a:prstGeom prst="line">
            <a:avLst/>
          </a:prstGeom>
          <a:noFill/>
          <a:ln w="19050">
            <a:solidFill>
              <a:srgbClr val="EDE0F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907810" y="265176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241F33"/>
          </a:solidFill>
          <a:ln/>
        </p:spPr>
      </p:sp>
      <p:sp>
        <p:nvSpPr>
          <p:cNvPr id="18" name="Text 16"/>
          <p:cNvSpPr/>
          <p:nvPr/>
        </p:nvSpPr>
        <p:spPr>
          <a:xfrm>
            <a:off x="8907810" y="2651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</a:t>
            </a:r>
            <a:endParaRPr lang="en-US" sz="115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150"/>
          </a:p>
        </p:txBody>
      </p:sp>
      <p:sp>
        <p:nvSpPr>
          <p:cNvPr id="19" name="Text 17"/>
          <p:cNvSpPr/>
          <p:nvPr/>
        </p:nvSpPr>
        <p:spPr>
          <a:xfrm>
            <a:off x="1935510" y="23591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→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1935510" y="3383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D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respuesta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548640" y="4005072"/>
            <a:ext cx="320040" cy="3200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005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1005840" y="39776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llena el formulario y confirma la acción en la interfaz.</a:t>
            </a:r>
            <a:endParaRPr lang="en-US" sz="1250"/>
          </a:p>
        </p:txBody>
      </p:sp>
      <p:sp>
        <p:nvSpPr>
          <p:cNvPr id="24" name="Shape 22"/>
          <p:cNvSpPr/>
          <p:nvPr/>
        </p:nvSpPr>
        <p:spPr>
          <a:xfrm>
            <a:off x="548640" y="4462272"/>
            <a:ext cx="320040" cy="3200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462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1005840" y="44348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invoca al método del manager correspondiente al requisito funcional.</a:t>
            </a:r>
            <a:endParaRPr lang="en-US" sz="1250"/>
          </a:p>
        </p:txBody>
      </p:sp>
      <p:sp>
        <p:nvSpPr>
          <p:cNvPr id="27" name="Shape 25"/>
          <p:cNvSpPr/>
          <p:nvPr/>
        </p:nvSpPr>
        <p:spPr>
          <a:xfrm>
            <a:off x="548640" y="4919472"/>
            <a:ext cx="320040" cy="3200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919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1005840" y="4892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manager valida reglas de negocio y llama a los DAOs necesarios.</a:t>
            </a:r>
            <a:endParaRPr lang="en-US" sz="1250"/>
          </a:p>
        </p:txBody>
      </p:sp>
      <p:sp>
        <p:nvSpPr>
          <p:cNvPr id="30" name="Shape 28"/>
          <p:cNvSpPr/>
          <p:nvPr/>
        </p:nvSpPr>
        <p:spPr>
          <a:xfrm>
            <a:off x="548640" y="5376672"/>
            <a:ext cx="320040" cy="3200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376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1005840" y="53492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DAOs ejecutan las operaciones CRUD sobre la base de datos.</a:t>
            </a:r>
            <a:endParaRPr lang="en-US" sz="1250"/>
          </a:p>
        </p:txBody>
      </p:sp>
      <p:sp>
        <p:nvSpPr>
          <p:cNvPr id="33" name="Shape 31"/>
          <p:cNvSpPr/>
          <p:nvPr/>
        </p:nvSpPr>
        <p:spPr>
          <a:xfrm>
            <a:off x="548640" y="5833872"/>
            <a:ext cx="320040" cy="3200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58338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1005840" y="58064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regresa por las mismas capas hasta mostrarse al usuario.</a:t>
            </a:r>
            <a:endParaRPr lang="en-US" sz="125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AC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 para Aplicaciones Web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C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DIAGRAMA DE NAVEGACIÓN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recursos puede ver cada usuario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8E44A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429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548640" y="48920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7A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892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8595360" y="1783080"/>
            <a:ext cx="3017520" cy="594360"/>
          </a:xfrm>
          <a:prstGeom prst="roundRect">
            <a:avLst>
              <a:gd name="adj" fmla="val 12308"/>
            </a:avLst>
          </a:prstGeom>
          <a:solidFill>
            <a:srgbClr val="F6F4F7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0" y="1783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</a:t>
            </a:r>
            <a:endParaRPr lang="en-US" sz="105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8595360" y="2514600"/>
            <a:ext cx="3017520" cy="594360"/>
          </a:xfrm>
          <a:prstGeom prst="roundRect">
            <a:avLst>
              <a:gd name="adj" fmla="val 12308"/>
            </a:avLst>
          </a:prstGeom>
          <a:solidFill>
            <a:srgbClr val="F6F4F7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0" y="25146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</a:t>
            </a:r>
            <a:endParaRPr lang="en-US" sz="105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8595360" y="3246120"/>
            <a:ext cx="3017520" cy="594360"/>
          </a:xfrm>
          <a:prstGeom prst="roundRect">
            <a:avLst>
              <a:gd name="adj" fmla="val 12308"/>
            </a:avLst>
          </a:prstGeom>
          <a:solidFill>
            <a:srgbClr val="F6F4F7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0" y="3246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8595360" y="3977640"/>
            <a:ext cx="3017520" cy="594360"/>
          </a:xfrm>
          <a:prstGeom prst="roundRect">
            <a:avLst>
              <a:gd name="adj" fmla="val 12308"/>
            </a:avLst>
          </a:prstGeom>
          <a:solidFill>
            <a:srgbClr val="F6F4F7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0" y="39776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</a:t>
            </a:r>
            <a:endParaRPr lang="en-US" sz="105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notas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8595360" y="4709160"/>
            <a:ext cx="3017520" cy="594360"/>
          </a:xfrm>
          <a:prstGeom prst="roundRect">
            <a:avLst>
              <a:gd name="adj" fmla="val 12308"/>
            </a:avLst>
          </a:prstGeom>
          <a:solidFill>
            <a:srgbClr val="F6F4F7"/>
          </a:solidFill>
          <a:ln/>
        </p:spPr>
      </p:sp>
      <p:sp>
        <p:nvSpPr>
          <p:cNvPr id="19" name="Text 17"/>
          <p:cNvSpPr/>
          <p:nvPr/>
        </p:nvSpPr>
        <p:spPr>
          <a:xfrm>
            <a:off x="8595360" y="47091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 flipV="1">
            <a:off x="2834640" y="2080260"/>
            <a:ext cx="5760720" cy="228600"/>
          </a:xfrm>
          <a:prstGeom prst="line">
            <a:avLst/>
          </a:prstGeom>
          <a:noFill/>
          <a:ln w="15875">
            <a:solidFill>
              <a:srgbClr val="8E44A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34640" y="2308860"/>
            <a:ext cx="5760720" cy="502920"/>
          </a:xfrm>
          <a:prstGeom prst="line">
            <a:avLst/>
          </a:prstGeom>
          <a:noFill/>
          <a:ln w="15875">
            <a:solidFill>
              <a:srgbClr val="8E44A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4640" y="2308860"/>
            <a:ext cx="5760720" cy="2697480"/>
          </a:xfrm>
          <a:prstGeom prst="line">
            <a:avLst/>
          </a:prstGeom>
          <a:noFill/>
          <a:ln w="15875">
            <a:solidFill>
              <a:srgbClr val="8E44A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2834640" y="2811780"/>
            <a:ext cx="5760720" cy="960120"/>
          </a:xfrm>
          <a:prstGeom prst="line">
            <a:avLst/>
          </a:prstGeom>
          <a:noFill/>
          <a:ln w="15875">
            <a:solidFill>
              <a:srgbClr val="3A6E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34640" y="3771900"/>
            <a:ext cx="5760720" cy="502920"/>
          </a:xfrm>
          <a:prstGeom prst="line">
            <a:avLst/>
          </a:prstGeom>
          <a:noFill/>
          <a:ln w="15875">
            <a:solidFill>
              <a:srgbClr val="3A6EA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4640" y="3771900"/>
            <a:ext cx="5760720" cy="1234440"/>
          </a:xfrm>
          <a:prstGeom prst="line">
            <a:avLst/>
          </a:prstGeom>
          <a:noFill/>
          <a:ln w="15875">
            <a:solidFill>
              <a:srgbClr val="3A6E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2834640" y="3543300"/>
            <a:ext cx="5760720" cy="1691640"/>
          </a:xfrm>
          <a:prstGeom prst="line">
            <a:avLst/>
          </a:prstGeom>
          <a:noFill/>
          <a:ln w="15875">
            <a:solidFill>
              <a:srgbClr val="1E7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2834640" y="4274820"/>
            <a:ext cx="5760720" cy="960120"/>
          </a:xfrm>
          <a:prstGeom prst="line">
            <a:avLst/>
          </a:prstGeom>
          <a:noFill/>
          <a:ln w="15875">
            <a:solidFill>
              <a:srgbClr val="1E7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 para Aplicaciones Web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DIAGRAMA DE NAVEGACIÓN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accesos por rol</a:t>
            </a:r>
            <a:endParaRPr lang="en-US" sz="280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347472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Administrador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Docente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Estudiante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usuarios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cursos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Matrícula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y consulta de notas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(solo consulta)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(sus cursos)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esta matriz antes de programar evita descubrir vacíos de permisos ya en producción.</a:t>
            </a:r>
            <a:endParaRPr lang="en-US" sz="125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 para Aplicaciones Web</a:t>
            </a:r>
            <a:endParaRPr lang="en-US" sz="100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914400"/>
            <a:ext cx="2743200" cy="2743200"/>
          </a:xfrm>
          <a:prstGeom prst="hexagon">
            <a:avLst/>
          </a:prstGeom>
          <a:solidFill>
            <a:srgbClr val="8E44AD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BUENAS PRÁCTICAS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aplicar esta arquitectura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241F33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03120"/>
            <a:ext cx="365760" cy="36576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1280160" y="20116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DAO solo conoce su propia entity: nunca mezcles la persistencia de varias tablas en un mismo DAO.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241F33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103120"/>
            <a:ext cx="365760" cy="36576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6903720" y="20116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 de negocio y las validaciones viven en el manager, no en la interfaz ni en el DAO.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241F33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611880"/>
            <a:ext cx="365760" cy="36576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1280160" y="35204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de usuario nunca llama directamente a un DAO ni ejecuta consultas a la base de datos.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6172200" y="338328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241F33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3611880"/>
            <a:ext cx="365760" cy="36576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6903720" y="35204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entities se mantienen simples: solo datos, sin reglas de negocio dentro de ellos.</a:t>
            </a:r>
            <a:endParaRPr lang="en-US" sz="115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241F33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120640"/>
            <a:ext cx="365760" cy="36576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1280160" y="50292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la matriz de accesos por rol antes de construir las pantallas.</a:t>
            </a:r>
            <a:endParaRPr lang="en-US" sz="1150"/>
          </a:p>
        </p:txBody>
      </p:sp>
      <p:sp>
        <p:nvSpPr>
          <p:cNvPr id="25" name="Shape 23"/>
          <p:cNvSpPr/>
          <p:nvPr/>
        </p:nvSpPr>
        <p:spPr>
          <a:xfrm>
            <a:off x="6172200" y="489204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241F33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0" y="5120640"/>
            <a:ext cx="365760" cy="36576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6903720" y="50292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se puede probar por separado: los DAOs con datos de prueba, los managers simulando DAOs.</a:t>
            </a:r>
            <a:endParaRPr lang="en-US" sz="115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AC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 para Aplicaciones Web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C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005840"/>
            <a:ext cx="2926080" cy="2926080"/>
          </a:xfrm>
          <a:prstGeom prst="hexagon">
            <a:avLst/>
          </a:prstGeom>
          <a:solidFill>
            <a:srgbClr val="8E44A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663440"/>
            <a:ext cx="3108960" cy="3108960"/>
          </a:xfrm>
          <a:prstGeom prst="hexagon">
            <a:avLst/>
          </a:prstGeom>
          <a:solidFill>
            <a:srgbClr val="F2A93B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CONCLUSIONES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clave</a:t>
            </a:r>
            <a:endParaRPr lang="en-US" sz="320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6479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propuesta separa responsabilidades en cinco capas: datos, entities, DAO, manager e interfaz.</a:t>
            </a:r>
            <a:endParaRPr lang="en-US" sz="135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060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entity tiene su propio DAO, responsable exclusivamente de las operaciones CRUD sobre esa entidad.</a:t>
            </a:r>
            <a:endParaRPr lang="en-US" sz="1350"/>
          </a:p>
        </p:txBody>
      </p:sp>
      <p:sp>
        <p:nvSpPr>
          <p:cNvPr id="10" name="Shape 8"/>
          <p:cNvSpPr/>
          <p:nvPr/>
        </p:nvSpPr>
        <p:spPr>
          <a:xfrm>
            <a:off x="548640" y="3602736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44728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managers orquestan varios DAOs para resolver requisitos funcionales completos, con sus reglas de negocio.</a:t>
            </a:r>
            <a:endParaRPr lang="en-US" sz="1350"/>
          </a:p>
        </p:txBody>
      </p:sp>
      <p:sp>
        <p:nvSpPr>
          <p:cNvPr id="12" name="Shape 10"/>
          <p:cNvSpPr/>
          <p:nvPr/>
        </p:nvSpPr>
        <p:spPr>
          <a:xfrm>
            <a:off x="548640" y="4443984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28853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de usuario solo se comunica con los managers, nunca directamente con el DAO o la base de datos.</a:t>
            </a:r>
            <a:endParaRPr lang="en-US" sz="1350"/>
          </a:p>
        </p:txBody>
      </p:sp>
      <p:sp>
        <p:nvSpPr>
          <p:cNvPr id="14" name="Shape 12"/>
          <p:cNvSpPr/>
          <p:nvPr/>
        </p:nvSpPr>
        <p:spPr>
          <a:xfrm>
            <a:off x="548640" y="5285232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12978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diagrama de navegación por rol formaliza qué recursos puede ver y usar cada tipo de usuario del sistema.</a:t>
            </a:r>
            <a:endParaRPr lang="en-US" sz="135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AC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 para Aplicaciones Web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C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11AAD43A286014F8D53184AADB58E06" ma:contentTypeVersion="9" ma:contentTypeDescription="Crear nuevo documento." ma:contentTypeScope="" ma:versionID="8ad9f7d0c786503c468e4c541715b85f">
  <xsd:schema xmlns:xsd="http://www.w3.org/2001/XMLSchema" xmlns:xs="http://www.w3.org/2001/XMLSchema" xmlns:p="http://schemas.microsoft.com/office/2006/metadata/properties" xmlns:ns2="a34bb971-012b-4567-9648-5c0361213ef1" xmlns:ns3="ae580ffa-7812-447c-8312-e5d0f345b591" targetNamespace="http://schemas.microsoft.com/office/2006/metadata/properties" ma:root="true" ma:fieldsID="a146d391b1f9610a36bdbc3705f46f7e" ns2:_="" ns3:_="">
    <xsd:import namespace="a34bb971-012b-4567-9648-5c0361213ef1"/>
    <xsd:import namespace="ae580ffa-7812-447c-8312-e5d0f345b5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4bb971-012b-4567-9648-5c0361213ef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255b28e8-f6d8-41f4-8dfa-69b184ca5cd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580ffa-7812-447c-8312-e5d0f345b59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c88a769-ba90-44ee-85d2-5180b37c7048}" ma:internalName="TaxCatchAll" ma:showField="CatchAllData" ma:web="ae580ffa-7812-447c-8312-e5d0f345b5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e580ffa-7812-447c-8312-e5d0f345b591" xsi:nil="true"/>
    <lcf76f155ced4ddcb4097134ff3c332f xmlns="a34bb971-012b-4567-9648-5c0361213ef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4C54E82-813F-4A34-AB0E-270F9B2D73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AA532D-8D37-4DF9-B166-5EB7D51BDE7B}"/>
</file>

<file path=customXml/itemProps3.xml><?xml version="1.0" encoding="utf-8"?>
<ds:datastoreItem xmlns:ds="http://schemas.openxmlformats.org/officeDocument/2006/customXml" ds:itemID="{4651F32E-AD3B-44A9-BD6D-6FAA637A12A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2026-08-25T16:12:34Z</dcterms:created>
  <dcterms:modified xsi:type="dcterms:W3CDTF">2026-08-25T19:36:49Z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0x010100211AAD43A286014F8D53184AADB58E06</vt:lpwstr>
  </property>
</Properties>
</file>